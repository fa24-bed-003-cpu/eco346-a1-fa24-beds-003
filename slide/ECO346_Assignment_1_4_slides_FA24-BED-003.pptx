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86375"/>
            <a:ext cx="3740199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8399" y="5286375"/>
            <a:ext cx="7004000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7203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ECO346  |  DATA VISUALIZATION TECHNIQUES FOR ECONOMISTS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6650" y="609600"/>
            <a:ext cx="57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1/4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00125"/>
            <a:ext cx="10101262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400" b="1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Visualizing Annual Earnings</a:t>
            </a:r>
            <a:r>
              <a:rPr lang="en-US" sz="4400"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lang="en-US" sz="4400" b="1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 by Age</a:t>
            </a:r>
            <a:endParaRPr lang="en-US" sz="4400" b="1" dirty="0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379166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PSLM sample • Sindh Urban • Ages 15–64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5524500"/>
            <a:ext cx="407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5734050"/>
            <a:ext cx="1487908" cy="5078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i="0" u="none" dirty="0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FA24-BEDS-003</a:t>
            </a:r>
          </a:p>
          <a:p>
            <a:pPr algn="l"/>
            <a:endParaRPr sz="1650" b="1" i="0" u="none" dirty="0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6524" y="5524500"/>
            <a:ext cx="7375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VARIANT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6524" y="5734050"/>
            <a:ext cx="737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Sindh Urban  •  Weighted analysis using household weights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810000" y="1209675"/>
            <a:ext cx="79248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0480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399407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399407"/>
            <a:ext cx="38100" cy="6953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3379589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379589"/>
            <a:ext cx="38100" cy="695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359771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9106" y="5080398"/>
            <a:ext cx="3071812" cy="956071"/>
          </a:xfrm>
          <a:prstGeom prst="roundRect">
            <a:avLst>
              <a:gd name="adj" fmla="val 93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2209800"/>
            <a:ext cx="7600950" cy="30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5048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Q2 • EARNINGS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2/4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43650"/>
            <a:ext cx="48220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subset. Weighted quantiles use household weight (hhweight).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0550"/>
            <a:ext cx="6500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Annual earnings are strongly spread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04875"/>
            <a:ext cx="6191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Positive annual earners • Sindh Urban • Ages 15–64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323975"/>
            <a:ext cx="28384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2513707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F4444"/>
                </a:solidFill>
                <a:latin typeface="Times New Roman" panose="02020603050405020304" charset="0"/>
                <a:cs typeface="Times New Roman" panose="02020603050405020304" charset="0"/>
              </a:rPr>
              <a:t>WEIGHTED 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493889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Times New Roman" panose="02020603050405020304" charset="0"/>
                <a:cs typeface="Times New Roman" panose="02020603050405020304" charset="0"/>
              </a:rPr>
              <a:t>WEIGHTED P90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1925" y="1371600"/>
            <a:ext cx="8220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Most Earners Receive Less Than the Highest-Earning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1925" y="5867400"/>
            <a:ext cx="82200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| Sindh urban earners, ages 15–64, positive earnings | Weighted by hhweight | 2 earners outside histogram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1524000"/>
            <a:ext cx="3405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2,644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704207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264,000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3684389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696,000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" y="4778871"/>
            <a:ext cx="11334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P10 = Rs 120,000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25" y="5263754"/>
            <a:ext cx="2867024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PK" sz="1400" b="1" dirty="0"/>
              <a:t>KEY FINDING</a:t>
            </a:r>
            <a:endParaRPr lang="en-PK" sz="1400" dirty="0"/>
          </a:p>
          <a:p>
            <a:r>
              <a:rPr lang="en-PK" sz="1400" dirty="0"/>
              <a:t>Earnings inequality is substantial in urban Sindh.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" y="4578846"/>
            <a:ext cx="1095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P90 / P10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0" y="4483596"/>
            <a:ext cx="7715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5.8×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000500" y="1209675"/>
            <a:ext cx="77343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238500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165228"/>
            <a:ext cx="3190876" cy="978396"/>
          </a:xfrm>
          <a:prstGeom prst="roundRect">
            <a:avLst>
              <a:gd name="adj" fmla="val 79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25" y="2152650"/>
            <a:ext cx="7410450" cy="3048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37205"/>
          <a:ext cx="3238500" cy="1902410"/>
        </p:xfrm>
        <a:graphic>
          <a:graphicData uri="http://schemas.openxmlformats.org/drawingml/2006/table">
            <a:tbl>
              <a:tblPr/>
              <a:tblGrid>
                <a:gridCol w="1090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Age band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Weighted mean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25–29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398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303,153.9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45–49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431,696.7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55–59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157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542,400.0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60–64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414,262.5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1000"/>
            <a:ext cx="60388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Q3 • AGE AND 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3/4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43650"/>
            <a:ext cx="260746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subset microdata.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0550"/>
            <a:ext cx="78009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generally rise with 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04875"/>
            <a:ext cx="742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Band means use household weights; age bands are five years 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323975"/>
            <a:ext cx="30289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PEAK EARNINGS AGE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2425" y="1371600"/>
            <a:ext cx="8029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Peak at Ages 55–59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2425" y="5753100"/>
            <a:ext cx="7505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| Sindh urban earners, ages 15–64, with positive annual earnings | Weighted by household weight | Hollow markers indicate age bands with fewer than 30 earners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1543050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Ages 55–59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25" y="1790700"/>
            <a:ext cx="3643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charset="0"/>
                <a:cs typeface="Times New Roman" panose="02020603050405020304" charset="0"/>
              </a:rPr>
              <a:t>Weighted Mean: Rs 542,400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46933"/>
            <a:ext cx="4048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SELECTED AGE-BAND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219" y="5193804"/>
            <a:ext cx="3033712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PK" sz="1400" b="1"/>
              <a:t>Key insight:</a:t>
            </a:r>
            <a:r>
              <a:rPr lang="en-PK" sz="1400"/>
              <a:t> The weighted mean complements the median by showing how higher earnings influence the overall average.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486400"/>
            <a:ext cx="11277600" cy="695325"/>
          </a:xfrm>
          <a:prstGeom prst="roundRect">
            <a:avLst>
              <a:gd name="adj" fmla="val 8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10175" y="1204912"/>
            <a:ext cx="609600" cy="152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82275" y="1204912"/>
            <a:ext cx="990600" cy="1524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219325"/>
            <a:ext cx="5200650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219325"/>
            <a:ext cx="5200650" cy="2000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305050"/>
            <a:ext cx="50292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2305050"/>
            <a:ext cx="50292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81000"/>
            <a:ext cx="6172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Q4 • REPRODUCIBILITY AND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547687"/>
            <a:ext cx="22733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4/4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43650"/>
            <a:ext cx="326644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Microdata Analysis • Sindh Urban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6343650"/>
            <a:ext cx="3152140" cy="15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9435"/>
            <a:ext cx="6443345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Cross-Validation between R and Python Pipelines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" y="5619750"/>
            <a:ext cx="621474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PK" sz="1400"/>
              <a:t>Both R and Python produced identical weighted mean annual earnings of </a:t>
            </a:r>
            <a:r>
              <a:rPr lang="en-PK" sz="1400" b="1"/>
              <a:t>Rs 303,153.9</a:t>
            </a:r>
            <a:r>
              <a:rPr lang="en-PK" sz="1400"/>
              <a:t> for the 25–29 age group.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6050" y="5619750"/>
            <a:ext cx="361310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26300" y="5619750"/>
            <a:ext cx="3613249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200150"/>
            <a:ext cx="15811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 Pipeline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0175" y="1223962"/>
            <a:ext cx="59055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 / ggplot2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225" y="1200150"/>
            <a:ext cx="205549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Python Pipeline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9425" y="1223962"/>
            <a:ext cx="97155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Python / matplotlib</a:t>
            </a:r>
          </a:p>
        </p:txBody>
      </p:sp>
      <p:pic>
        <p:nvPicPr>
          <p:cNvPr id="28" name="Picture 27" descr="q3_age_earning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206" y="1546860"/>
            <a:ext cx="5373212" cy="3626802"/>
          </a:xfrm>
          <a:prstGeom prst="rect">
            <a:avLst/>
          </a:prstGeom>
        </p:spPr>
      </p:pic>
      <p:pic>
        <p:nvPicPr>
          <p:cNvPr id="29" name="Graphic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5062" y="1547174"/>
            <a:ext cx="5524498" cy="3799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327</Words>
  <Application>Microsoft Office PowerPoint</Application>
  <PresentationFormat>Widescreen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Ahmad Ali</cp:lastModifiedBy>
  <cp:revision>55</cp:revision>
  <dcterms:created xsi:type="dcterms:W3CDTF">2013-01-27T09:14:00Z</dcterms:created>
  <dcterms:modified xsi:type="dcterms:W3CDTF">2026-10-26T16:14:44Z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721060AEA24A4ED7BE0D8AB705590790_13</vt:lpwstr>
  </property>
</Properties>
</file>